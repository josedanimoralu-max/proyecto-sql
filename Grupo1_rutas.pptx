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3" r:id="rId6"/>
    <p:sldId id="265" r:id="rId7"/>
    <p:sldId id="260" r:id="rId8"/>
    <p:sldId id="266" r:id="rId9"/>
    <p:sldId id="261" r:id="rId10"/>
    <p:sldId id="271" r:id="rId11"/>
    <p:sldId id="262" r:id="rId12"/>
    <p:sldId id="267" r:id="rId13"/>
    <p:sldId id="272" r:id="rId14"/>
    <p:sldId id="269" r:id="rId15"/>
    <p:sldId id="273" r:id="rId16"/>
    <p:sldId id="268" r:id="rId17"/>
    <p:sldId id="274" r:id="rId18"/>
    <p:sldId id="270" r:id="rId19"/>
    <p:sldId id="275" r:id="rId20"/>
    <p:sldId id="264" r:id="rId21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Play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54b830463_2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654b830463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54b830463_2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3654b830463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95417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solidFill>
          <a:srgbClr val="1C3E7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1143000" y="1632832"/>
            <a:ext cx="6858000" cy="118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"/>
              <a:buNone/>
              <a:defRPr sz="3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143000" y="2983814"/>
            <a:ext cx="6858000" cy="35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grpSp>
        <p:nvGrpSpPr>
          <p:cNvPr id="60" name="Google Shape;60;p14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61" name="Google Shape;61;p14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14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bg>
      <p:bgPr>
        <a:solidFill>
          <a:srgbClr val="F7F7F3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70" name="Google Shape;70;p15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437019" y="242317"/>
            <a:ext cx="8013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437019" y="1541190"/>
            <a:ext cx="8269961" cy="287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viernes, 29 de agosto de 2025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bg>
      <p:bgPr>
        <a:solidFill>
          <a:srgbClr val="F7F7F3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7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95" name="Google Shape;95;p17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7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419435" y="1683056"/>
            <a:ext cx="4061162" cy="523814"/>
          </a:xfrm>
          <a:prstGeom prst="rect">
            <a:avLst/>
          </a:prstGeom>
          <a:solidFill>
            <a:srgbClr val="1C3E7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7F7F3"/>
              </a:buClr>
              <a:buSzPts val="1500"/>
              <a:buNone/>
              <a:defRPr sz="1500" b="1">
                <a:solidFill>
                  <a:srgbClr val="F7F7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viernes, 29 de agosto de 2025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437019" y="242317"/>
            <a:ext cx="8013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2"/>
          </p:nvPr>
        </p:nvSpPr>
        <p:spPr>
          <a:xfrm>
            <a:off x="415954" y="2424835"/>
            <a:ext cx="4064643" cy="195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3"/>
          </p:nvPr>
        </p:nvSpPr>
        <p:spPr>
          <a:xfrm>
            <a:off x="4601059" y="2424835"/>
            <a:ext cx="4279968" cy="195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4"/>
          </p:nvPr>
        </p:nvSpPr>
        <p:spPr>
          <a:xfrm>
            <a:off x="4601059" y="1676158"/>
            <a:ext cx="4308269" cy="523814"/>
          </a:xfrm>
          <a:prstGeom prst="rect">
            <a:avLst/>
          </a:prstGeom>
          <a:solidFill>
            <a:srgbClr val="1C3E7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7F7F3"/>
              </a:buClr>
              <a:buSzPts val="1500"/>
              <a:buNone/>
              <a:defRPr sz="1500" b="1">
                <a:solidFill>
                  <a:srgbClr val="F7F7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bg>
      <p:bgPr>
        <a:solidFill>
          <a:srgbClr val="F7F7F3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8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110" name="Google Shape;110;p18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8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628650" y="342900"/>
            <a:ext cx="2949178" cy="136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3708155" y="351473"/>
            <a:ext cx="4618160" cy="4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2"/>
          </p:nvPr>
        </p:nvSpPr>
        <p:spPr>
          <a:xfrm>
            <a:off x="628651" y="1851865"/>
            <a:ext cx="2949178" cy="258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18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viernes, 29 de agosto de 2025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Imagen con título">
    <p:bg>
      <p:bgPr>
        <a:solidFill>
          <a:srgbClr val="F7F7F3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9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123" name="Google Shape;123;p19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9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9"/>
          <p:cNvSpPr>
            <a:spLocks noGrp="1"/>
          </p:cNvSpPr>
          <p:nvPr>
            <p:ph type="pic" idx="2"/>
          </p:nvPr>
        </p:nvSpPr>
        <p:spPr>
          <a:xfrm>
            <a:off x="4308231" y="817684"/>
            <a:ext cx="4135590" cy="3276325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628650" y="342900"/>
            <a:ext cx="2949178" cy="136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628651" y="1851865"/>
            <a:ext cx="2949178" cy="258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8" name="Google Shape;128;p19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9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viernes, 29 de agosto de 2025</a:t>
            </a:r>
            <a:endParaRPr sz="9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63" r:id="rId4"/>
    <p:sldLayoutId id="214748366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ctrTitle"/>
          </p:nvPr>
        </p:nvSpPr>
        <p:spPr>
          <a:xfrm>
            <a:off x="1143000" y="1632832"/>
            <a:ext cx="6858000" cy="118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None/>
            </a:pPr>
            <a:r>
              <a:rPr lang="es" dirty="0"/>
              <a:t>Proyecto integrador </a:t>
            </a:r>
            <a:br>
              <a:rPr lang="es" dirty="0"/>
            </a:br>
            <a:r>
              <a:rPr lang="es" dirty="0"/>
              <a:t>Optimización de redes de transporte urbano</a:t>
            </a:r>
            <a:endParaRPr dirty="0"/>
          </a:p>
        </p:txBody>
      </p:sp>
      <p:sp>
        <p:nvSpPr>
          <p:cNvPr id="139" name="Google Shape;139;p20"/>
          <p:cNvSpPr txBox="1">
            <a:spLocks noGrp="1"/>
          </p:cNvSpPr>
          <p:nvPr>
            <p:ph type="subTitle" idx="1"/>
          </p:nvPr>
        </p:nvSpPr>
        <p:spPr>
          <a:xfrm>
            <a:off x="1143000" y="3081469"/>
            <a:ext cx="6858000" cy="975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s-EC" dirty="0"/>
              <a:t>Módulo 2: </a:t>
            </a:r>
            <a:r>
              <a:rPr lang="es-EC" dirty="0" err="1"/>
              <a:t>Database</a:t>
            </a:r>
            <a:r>
              <a:rPr lang="es-EC" dirty="0"/>
              <a:t> SQL and </a:t>
            </a:r>
            <a:r>
              <a:rPr lang="es-EC" dirty="0" err="1"/>
              <a:t>Query</a:t>
            </a:r>
            <a:r>
              <a:rPr lang="es-EC" dirty="0"/>
              <a:t> </a:t>
            </a:r>
            <a:r>
              <a:rPr lang="es-EC" dirty="0" err="1"/>
              <a:t>optimization</a:t>
            </a:r>
            <a:r>
              <a:rPr lang="es-EC" dirty="0"/>
              <a:t>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s-EC" dirty="0"/>
              <a:t>Profesor: Emanuel Parra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s-EC" dirty="0"/>
              <a:t>Grupo 1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endParaRPr lang="es-EC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endParaRPr lang="es-EC" dirty="0"/>
          </a:p>
        </p:txBody>
      </p:sp>
      <p:sp>
        <p:nvSpPr>
          <p:cNvPr id="140" name="Google Shape;140;p20"/>
          <p:cNvSpPr txBox="1">
            <a:spLocks noGrp="1"/>
          </p:cNvSpPr>
          <p:nvPr>
            <p:ph type="dt" idx="10"/>
          </p:nvPr>
        </p:nvSpPr>
        <p:spPr>
          <a:xfrm>
            <a:off x="274559" y="4798899"/>
            <a:ext cx="24910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dirty="0"/>
              <a:t>Fecha: 20 de septiembre de 2025</a:t>
            </a:r>
            <a:endParaRPr dirty="0"/>
          </a:p>
        </p:txBody>
      </p:sp>
      <p:sp>
        <p:nvSpPr>
          <p:cNvPr id="141" name="Google Shape;141;p20"/>
          <p:cNvSpPr txBox="1">
            <a:spLocks noGrp="1"/>
          </p:cNvSpPr>
          <p:nvPr>
            <p:ph type="sldNum" idx="12"/>
          </p:nvPr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9C98D80-EFCA-7960-E191-F9BAE13B4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435" y="1608403"/>
            <a:ext cx="4061162" cy="523814"/>
          </a:xfrm>
        </p:spPr>
        <p:txBody>
          <a:bodyPr/>
          <a:lstStyle/>
          <a:p>
            <a:r>
              <a:rPr lang="es-EC" dirty="0"/>
              <a:t>General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F84328-C67E-117A-95F6-3D9EE4DB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54" y="447759"/>
            <a:ext cx="8013265" cy="868026"/>
          </a:xfrm>
        </p:spPr>
        <p:txBody>
          <a:bodyPr/>
          <a:lstStyle/>
          <a:p>
            <a:r>
              <a:rPr lang="es-EC" dirty="0"/>
              <a:t>Objetivos del proyecto 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D96232D1-55B2-A792-F672-C323534B24E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17694" y="2462161"/>
            <a:ext cx="4064643" cy="1951892"/>
          </a:xfrm>
        </p:spPr>
        <p:txBody>
          <a:bodyPr/>
          <a:lstStyle/>
          <a:p>
            <a:r>
              <a:rPr lang="es-ES" dirty="0"/>
              <a:t>Analizar y optimizar las redes de transporte urbano para comprender los patrones de uso, mejorar la eficiencia de las rutas y reducir los tiempos de desplazamiento de los usuarios.</a:t>
            </a:r>
          </a:p>
          <a:p>
            <a:endParaRPr lang="es-EC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227CF68-A08C-1174-DBD4-7CF3D14DA68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72000" y="2294206"/>
            <a:ext cx="4279968" cy="1951892"/>
          </a:xfrm>
        </p:spPr>
        <p:txBody>
          <a:bodyPr/>
          <a:lstStyle/>
          <a:p>
            <a:r>
              <a:rPr lang="es-ES" dirty="0"/>
              <a:t>Diseñar una base de datos para registrar rutas, horarios y uso del transporte.</a:t>
            </a:r>
          </a:p>
          <a:p>
            <a:r>
              <a:rPr lang="es-ES" dirty="0"/>
              <a:t>Generar reportes sobre patrones de uso y eficiencia de las rutas. </a:t>
            </a:r>
          </a:p>
          <a:p>
            <a:r>
              <a:rPr lang="es-ES" dirty="0"/>
              <a:t>Identificar oportunidades para optimizar la movilidad urbana.</a:t>
            </a:r>
            <a:endParaRPr lang="es-EC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7CE5CBD-DC95-BC2D-459D-DC62A261220C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01059" y="1608403"/>
            <a:ext cx="4308269" cy="523814"/>
          </a:xfrm>
        </p:spPr>
        <p:txBody>
          <a:bodyPr/>
          <a:lstStyle/>
          <a:p>
            <a:r>
              <a:rPr lang="es-EC" dirty="0"/>
              <a:t>Específico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3E518C1-237D-2805-F6CD-962A8C678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1" y="4743997"/>
            <a:ext cx="3229426" cy="314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D99F2-A62E-E168-1539-FA0AAFAD8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72" y="410268"/>
            <a:ext cx="8013265" cy="994172"/>
          </a:xfrm>
        </p:spPr>
        <p:txBody>
          <a:bodyPr/>
          <a:lstStyle/>
          <a:p>
            <a:r>
              <a:rPr lang="es-EC" dirty="0"/>
              <a:t>¿Qué funcionalidad tendrá el sistema?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4141D2-A462-CAC8-29E2-31C3B9269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663" y="1798778"/>
            <a:ext cx="8269961" cy="2874234"/>
          </a:xfrm>
        </p:spPr>
        <p:txBody>
          <a:bodyPr/>
          <a:lstStyle/>
          <a:p>
            <a:pPr marL="139700" indent="0">
              <a:buNone/>
            </a:pPr>
            <a:r>
              <a:rPr lang="es-ES" dirty="0"/>
              <a:t>El sistema permitirá:</a:t>
            </a:r>
          </a:p>
          <a:p>
            <a:r>
              <a:rPr lang="es-ES" dirty="0"/>
              <a:t>Registro de rutas, horarios y frecuencias.</a:t>
            </a:r>
          </a:p>
          <a:p>
            <a:r>
              <a:rPr lang="es-ES" dirty="0"/>
              <a:t>Análisis de patrones de uso a través de consultas SQL.</a:t>
            </a:r>
          </a:p>
          <a:p>
            <a:r>
              <a:rPr lang="es-ES" dirty="0"/>
              <a:t>Generación de reportes con oportunidades de mejora.</a:t>
            </a:r>
          </a:p>
          <a:p>
            <a:pPr marL="139700" indent="0">
              <a:buNone/>
            </a:pP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2E0606-186F-15BC-984B-755FD6FBD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6" y="4743998"/>
            <a:ext cx="3229426" cy="314369"/>
          </a:xfrm>
          <a:prstGeom prst="rect">
            <a:avLst/>
          </a:prstGeom>
        </p:spPr>
      </p:pic>
      <p:pic>
        <p:nvPicPr>
          <p:cNvPr id="4098" name="Picture 2" descr="Planificador de rutas | DispatchTrack">
            <a:extLst>
              <a:ext uri="{FF2B5EF4-FFF2-40B4-BE49-F238E27FC236}">
                <a16:creationId xmlns:a16="http://schemas.microsoft.com/office/drawing/2014/main" id="{1F08F54C-FBCC-447E-5F45-4B0A4192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922" y="1739144"/>
            <a:ext cx="2040415" cy="137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17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0BBAF-68E7-AAB2-A28E-64638685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43" y="112964"/>
            <a:ext cx="8013265" cy="994172"/>
          </a:xfrm>
        </p:spPr>
        <p:txBody>
          <a:bodyPr/>
          <a:lstStyle/>
          <a:p>
            <a:r>
              <a:rPr lang="es-EC" dirty="0"/>
              <a:t>Entidades del sistema integrado de transporte urbano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7819E7-C8DB-97EB-76B0-AC47FC751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94" y="4743998"/>
            <a:ext cx="3229426" cy="314369"/>
          </a:xfrm>
          <a:prstGeom prst="rect">
            <a:avLst/>
          </a:prstGeom>
        </p:spPr>
      </p:pic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BDA7D844-D0C0-0E9E-963A-95E3A4AE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643" y="1283139"/>
            <a:ext cx="8269961" cy="2874234"/>
          </a:xfrm>
        </p:spPr>
        <p:txBody>
          <a:bodyPr/>
          <a:lstStyle/>
          <a:p>
            <a:pPr marL="139700" indent="0">
              <a:buNone/>
            </a:pPr>
            <a:r>
              <a:rPr lang="es-EC" dirty="0"/>
              <a:t>Para el análisis de la operatividad del sistemas integrado de transporte urbano, se cuenta con información en las siguientes entidades:</a:t>
            </a:r>
          </a:p>
          <a:p>
            <a:pPr marL="139700" indent="0">
              <a:buNone/>
            </a:pPr>
            <a:r>
              <a:rPr lang="es-EC" dirty="0"/>
              <a:t>• </a:t>
            </a:r>
            <a:r>
              <a:rPr lang="es-EC" b="1" dirty="0"/>
              <a:t>Rutas de transporte: </a:t>
            </a:r>
            <a:r>
              <a:rPr lang="es-EC" dirty="0"/>
              <a:t>representan los recorridos disponibles y sus paradas </a:t>
            </a:r>
          </a:p>
          <a:p>
            <a:pPr marL="139700" indent="0">
              <a:buNone/>
            </a:pPr>
            <a:r>
              <a:rPr lang="es-EC" dirty="0"/>
              <a:t>asociadas.</a:t>
            </a:r>
          </a:p>
          <a:p>
            <a:pPr marL="139700" indent="0">
              <a:buNone/>
            </a:pPr>
            <a:r>
              <a:rPr lang="es-EC" dirty="0"/>
              <a:t>• </a:t>
            </a:r>
            <a:r>
              <a:rPr lang="es-EC" b="1" dirty="0"/>
              <a:t>Horarios: </a:t>
            </a:r>
            <a:r>
              <a:rPr lang="es-EC" dirty="0"/>
              <a:t>contienen los horarios y frecuencias con que se realizan los servicios.</a:t>
            </a:r>
          </a:p>
          <a:p>
            <a:pPr marL="139700" indent="0">
              <a:buNone/>
            </a:pPr>
            <a:r>
              <a:rPr lang="es-EC" dirty="0"/>
              <a:t>• </a:t>
            </a:r>
            <a:r>
              <a:rPr lang="es-EC" b="1" dirty="0"/>
              <a:t>Usuarios: </a:t>
            </a:r>
            <a:r>
              <a:rPr lang="es-EC" dirty="0"/>
              <a:t>almacenan información sobre los usuarios del transporte urbano y sus </a:t>
            </a:r>
          </a:p>
          <a:p>
            <a:pPr marL="139700" indent="0">
              <a:buNone/>
            </a:pPr>
            <a:r>
              <a:rPr lang="es-EC" dirty="0"/>
              <a:t>patrones de uso.</a:t>
            </a:r>
          </a:p>
          <a:p>
            <a:pPr marL="139700" indent="0">
              <a:buNone/>
            </a:pPr>
            <a:r>
              <a:rPr lang="es-EC" dirty="0"/>
              <a:t>• </a:t>
            </a:r>
            <a:r>
              <a:rPr lang="es-EC" b="1" dirty="0"/>
              <a:t>Costos de operación: </a:t>
            </a:r>
            <a:r>
              <a:rPr lang="es-EC" dirty="0"/>
              <a:t>registran los costos asociados a cada recorrido, como </a:t>
            </a:r>
          </a:p>
          <a:p>
            <a:pPr marL="139700" indent="0">
              <a:buNone/>
            </a:pPr>
            <a:r>
              <a:rPr lang="es-EC" dirty="0"/>
              <a:t>combustible y mantenimiento</a:t>
            </a:r>
          </a:p>
        </p:txBody>
      </p:sp>
    </p:spTree>
    <p:extLst>
      <p:ext uri="{BB962C8B-B14F-4D97-AF65-F5344CB8AC3E}">
        <p14:creationId xmlns:p14="http://schemas.microsoft.com/office/powerpoint/2010/main" val="1587679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D47B8-DD83-383B-58AC-6DA61BA64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19" y="-17503"/>
            <a:ext cx="8013265" cy="994172"/>
          </a:xfrm>
        </p:spPr>
        <p:txBody>
          <a:bodyPr/>
          <a:lstStyle/>
          <a:p>
            <a:r>
              <a:rPr lang="es-EC" dirty="0"/>
              <a:t>Diagrama de modelo de datos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09AD16-93F1-68DB-28DD-5605F6700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657" y="803672"/>
            <a:ext cx="5898912" cy="353615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9246A22-B3E3-8E1B-6F4C-582C764F0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75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B096A-D2E2-4B43-3D03-CB4B6A83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92F3B-A330-A96A-1E06-955E6C0BA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753502-D536-5102-5B6F-AB13F4668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1" y="4743998"/>
            <a:ext cx="3229426" cy="31436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0A42AF3-42C8-1A32-0A83-865694ED6C8F}"/>
              </a:ext>
            </a:extLst>
          </p:cNvPr>
          <p:cNvSpPr txBox="1"/>
          <p:nvPr/>
        </p:nvSpPr>
        <p:spPr>
          <a:xfrm>
            <a:off x="437019" y="1051782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¿Qué rutas tienen mayor ocupación en horas pico?</a:t>
            </a:r>
            <a:endParaRPr lang="es-EC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D99AFA-727E-F866-1109-20C6348C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15" t="3924" r="3657" b="5573"/>
          <a:stretch>
            <a:fillRect/>
          </a:stretch>
        </p:blipFill>
        <p:spPr>
          <a:xfrm>
            <a:off x="797522" y="1495782"/>
            <a:ext cx="7438953" cy="284114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2870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4D74E-50DE-ADC8-1D34-11FF3862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80B0A2-1250-712F-CF6C-DF370F10E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1" y="4743998"/>
            <a:ext cx="3229426" cy="31436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395C603-AC1B-C960-6F2F-BD9FFE2FF20E}"/>
              </a:ext>
            </a:extLst>
          </p:cNvPr>
          <p:cNvSpPr txBox="1"/>
          <p:nvPr/>
        </p:nvSpPr>
        <p:spPr>
          <a:xfrm>
            <a:off x="437019" y="1051782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¿Qué rutas tienen mayor ocupación en horas pico?</a:t>
            </a:r>
            <a:endParaRPr lang="es-EC" b="1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961A6F4-4E91-6169-967B-AAAC5917A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713236"/>
              </p:ext>
            </p:extLst>
          </p:nvPr>
        </p:nvGraphicFramePr>
        <p:xfrm>
          <a:off x="781050" y="1333786"/>
          <a:ext cx="7581900" cy="31347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13366044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397630566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537411752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089664377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378209362"/>
                    </a:ext>
                  </a:extLst>
                </a:gridCol>
              </a:tblGrid>
              <a:tr h="208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Nombre_ruta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Hora_inicio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Hora_fin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Unidades_en_servicio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Número_usuarios_en_horario_y_ruta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8224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Noroeste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06:00:00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09:00:00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5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40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42163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Norte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06:00:00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09:00:00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8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39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516298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Sur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06:00:00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09:00:00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39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414187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06:00:00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09:00:00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8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39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662271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Oeste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06:00:00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09:00:00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6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39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99341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Sureste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06:00:00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09:00:00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4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39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963498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Noreste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06:00:00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09:00:00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5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39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0386939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Suroeste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06:00:00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09:00:00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39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017487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Norte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8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29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09562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Sur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28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263598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8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857563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Oeste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6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23181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Noroeste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5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566056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Sureste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4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178239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Noreste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5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33331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Suroeste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26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82312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713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AE3E-ED89-35D4-C2DB-81B59158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9BAB2-5805-67CB-256D-BEC17006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077BF0E-671A-8661-2A50-99EAA2AD0BBE}"/>
              </a:ext>
            </a:extLst>
          </p:cNvPr>
          <p:cNvSpPr txBox="1"/>
          <p:nvPr/>
        </p:nvSpPr>
        <p:spPr>
          <a:xfrm>
            <a:off x="437019" y="1051782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¿Qué horarios presentan menor uso?</a:t>
            </a:r>
            <a:endParaRPr lang="es-EC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F3815F-C613-9863-C07F-FDEC2A774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1" y="1551804"/>
            <a:ext cx="7002830" cy="236017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760B920-3F8F-350A-BE88-A40594F4E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2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308FB-98A7-F95A-3577-1B54131E0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502D2F-60AB-A01A-8FDC-F9620A3809D1}"/>
              </a:ext>
            </a:extLst>
          </p:cNvPr>
          <p:cNvSpPr txBox="1"/>
          <p:nvPr/>
        </p:nvSpPr>
        <p:spPr>
          <a:xfrm>
            <a:off x="437019" y="1051782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¿Qué horarios presentan menor uso?</a:t>
            </a:r>
            <a:endParaRPr lang="es-EC" b="1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141DE9F-EF0B-2FD1-F6DD-8BDD99372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79299"/>
              </p:ext>
            </p:extLst>
          </p:nvPr>
        </p:nvGraphicFramePr>
        <p:xfrm>
          <a:off x="653143" y="1565910"/>
          <a:ext cx="7581458" cy="20050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3358">
                  <a:extLst>
                    <a:ext uri="{9D8B030D-6E8A-4147-A177-3AD203B41FA5}">
                      <a16:colId xmlns:a16="http://schemas.microsoft.com/office/drawing/2014/main" val="32341076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11057488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546285988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577698700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46047586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Nombre_ruta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Hora_inicio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Hora_fin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Unidades_en_servicio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Número_usuarios_en_horario_y_ruta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990490"/>
                  </a:ext>
                </a:extLst>
              </a:tr>
              <a:tr h="1762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Suroeste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23:00:00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2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222853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Norte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09:00:00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12:00:00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4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4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6514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Sur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09:00:00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12:00:00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3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4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5820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09:00:00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12:00:00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4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4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975148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Oeste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09:00:00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12:00:00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3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4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41046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Norte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12:00:00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17:00:00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4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22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594812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Sur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12:00:00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22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17359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Este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12:00:00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4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22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94408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Oeste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12:00:00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22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43627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Noroeste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09:00:00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17:00:00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24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082875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ABBE8CA9-A78A-AA4D-3CDA-988D245E8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2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2CD1-F1EC-A07B-F263-1BEAC85E0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494C3-AA67-F29B-EC11-CE3F8B56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3.1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8A321D-C40B-F34F-D30C-70F1FB5129F7}"/>
              </a:ext>
            </a:extLst>
          </p:cNvPr>
          <p:cNvSpPr txBox="1"/>
          <p:nvPr/>
        </p:nvSpPr>
        <p:spPr>
          <a:xfrm>
            <a:off x="897657" y="1116588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Paradas donde mas pasajeros abordan.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34C8B77-D06C-A1C2-A5E8-457D5932E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4" r="2684"/>
          <a:stretch>
            <a:fillRect/>
          </a:stretch>
        </p:blipFill>
        <p:spPr>
          <a:xfrm>
            <a:off x="892616" y="1623207"/>
            <a:ext cx="7102070" cy="22958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4C5EE3B-D50E-FCEB-1BB9-CBEB523D9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76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6C5D-92BC-32FF-6ED0-E905FC73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3.1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FED631-1A33-431B-D89B-909340ACC2F8}"/>
              </a:ext>
            </a:extLst>
          </p:cNvPr>
          <p:cNvSpPr txBox="1"/>
          <p:nvPr/>
        </p:nvSpPr>
        <p:spPr>
          <a:xfrm>
            <a:off x="897657" y="1116588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Paradas donde mas pasajeros abordan.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F78432B-8092-FF19-BC08-C425B1E31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414177"/>
              </p:ext>
            </p:extLst>
          </p:nvPr>
        </p:nvGraphicFramePr>
        <p:xfrm>
          <a:off x="1138351" y="1646618"/>
          <a:ext cx="6224975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8375">
                  <a:extLst>
                    <a:ext uri="{9D8B030D-6E8A-4147-A177-3AD203B41FA5}">
                      <a16:colId xmlns:a16="http://schemas.microsoft.com/office/drawing/2014/main" val="1431790984"/>
                    </a:ext>
                  </a:extLst>
                </a:gridCol>
                <a:gridCol w="2335845">
                  <a:extLst>
                    <a:ext uri="{9D8B030D-6E8A-4147-A177-3AD203B41FA5}">
                      <a16:colId xmlns:a16="http://schemas.microsoft.com/office/drawing/2014/main" val="2334230829"/>
                    </a:ext>
                  </a:extLst>
                </a:gridCol>
                <a:gridCol w="2300755">
                  <a:extLst>
                    <a:ext uri="{9D8B030D-6E8A-4147-A177-3AD203B41FA5}">
                      <a16:colId xmlns:a16="http://schemas.microsoft.com/office/drawing/2014/main" val="337667748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Nombre_parada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>
                          <a:effectLst/>
                        </a:rPr>
                        <a:t>Dirección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Total_usuarios_abordajes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153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Solanda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Ajaví y Cardenal de la Torre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54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80216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Estación Este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de los Shyris y Naciones Unidas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51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3693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Barrio Industrial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Galo Plaza y El Inca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50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49965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La Carolina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Amazonas y República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41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684065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Guamaní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Maldonado y S7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726879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Terminal Sur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Maldonado y Morán Valverde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453850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Calderón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Geovanny Calles y 9 de Agosto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29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577953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Terminal Norte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Simón Bolívar y Calle 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8819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Centro Histórico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Plaza Grande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26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58500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Parque Central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10 de Agosto y Colón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26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4109720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7461A740-0B12-0C13-594A-EB6CAA710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3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18223-7698-2568-AC16-5CF59F83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B7522-F54A-A9D5-841B-A5B318D3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3.2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F4B78E-55A6-09C9-4B31-BC582132CC11}"/>
              </a:ext>
            </a:extLst>
          </p:cNvPr>
          <p:cNvSpPr txBox="1"/>
          <p:nvPr/>
        </p:nvSpPr>
        <p:spPr>
          <a:xfrm>
            <a:off x="849340" y="1171589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Paradas donde menos pasajeros abordan.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5FE5019-DE02-AAD4-BB32-298217760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14" y="1850717"/>
            <a:ext cx="7154273" cy="20195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4CADCA8-F969-BDD1-D044-BE9258823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6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DCB66-2D96-9304-93DB-D90498CB3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EB0A3-C0FA-6250-EDEE-111971C0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3.2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54838A-13B0-F296-F760-3AA368BDEC2C}"/>
              </a:ext>
            </a:extLst>
          </p:cNvPr>
          <p:cNvSpPr txBox="1"/>
          <p:nvPr/>
        </p:nvSpPr>
        <p:spPr>
          <a:xfrm>
            <a:off x="849340" y="1171589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Paradas donde menos pasajeros abordan.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F14AE6A-296B-4E7C-D0E9-172A3C448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594726"/>
              </p:ext>
            </p:extLst>
          </p:nvPr>
        </p:nvGraphicFramePr>
        <p:xfrm>
          <a:off x="1282462" y="1726531"/>
          <a:ext cx="5902364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5172">
                  <a:extLst>
                    <a:ext uri="{9D8B030D-6E8A-4147-A177-3AD203B41FA5}">
                      <a16:colId xmlns:a16="http://schemas.microsoft.com/office/drawing/2014/main" val="3139489009"/>
                    </a:ext>
                  </a:extLst>
                </a:gridCol>
                <a:gridCol w="2433549">
                  <a:extLst>
                    <a:ext uri="{9D8B030D-6E8A-4147-A177-3AD203B41FA5}">
                      <a16:colId xmlns:a16="http://schemas.microsoft.com/office/drawing/2014/main" val="1682436090"/>
                    </a:ext>
                  </a:extLst>
                </a:gridCol>
                <a:gridCol w="2043643">
                  <a:extLst>
                    <a:ext uri="{9D8B030D-6E8A-4147-A177-3AD203B41FA5}">
                      <a16:colId xmlns:a16="http://schemas.microsoft.com/office/drawing/2014/main" val="265482446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Nombre_parada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>
                          <a:effectLst/>
                        </a:rPr>
                        <a:t>Dirección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Total_usuarios_abordajes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4837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Bellavista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Eloy Alfaro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9497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La Magdalena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Maldonado y Rodrigo de Chávez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83870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El Labrador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Galo Plaza y El Labrador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8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407238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Conocoto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Ilaló y Píntag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10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560782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San Roque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Mariscal Sucre y Loja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36524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Chimbacalle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Pedro Vicente Maldonado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351375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San Blas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Gran Colombia y Tarqui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11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71663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Carcelén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Eloy Alfaro y Vaca de Castro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13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770659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Quitumbe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Estación Quitumbe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13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39254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El Condado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Occidental y Diego Vásquez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14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1319629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2A8B48F0-AAC4-1737-DCD7-B000BFF25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6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1A17-417A-33CD-5C17-7AF48B61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742A2-C01A-1B2B-6E33-B54EB183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4.1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F35182-8E62-D949-5141-EEFD2C4E0CCA}"/>
              </a:ext>
            </a:extLst>
          </p:cNvPr>
          <p:cNvSpPr txBox="1"/>
          <p:nvPr/>
        </p:nvSpPr>
        <p:spPr>
          <a:xfrm>
            <a:off x="849340" y="1171589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Paradas donde menos bajan.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9B64955-27F3-8075-F13C-DD3FA0BE5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7" y="1719143"/>
            <a:ext cx="6916115" cy="17052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441A26A-D921-752C-8E88-A6D960E29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08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74BF-7D02-98D7-2550-76C904A8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FCBCE-FA69-CA31-280E-3C8ECE40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4.1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F5D7A69-6BCD-6319-5200-4EE07DE425C2}"/>
              </a:ext>
            </a:extLst>
          </p:cNvPr>
          <p:cNvSpPr txBox="1"/>
          <p:nvPr/>
        </p:nvSpPr>
        <p:spPr>
          <a:xfrm>
            <a:off x="849340" y="1171589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Paradas donde menos bajan.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8AC0505-F6A3-225A-A008-4034D4CA449F}"/>
              </a:ext>
            </a:extLst>
          </p:cNvPr>
          <p:cNvGraphicFramePr>
            <a:graphicFrameLocks noGrp="1"/>
          </p:cNvGraphicFramePr>
          <p:nvPr/>
        </p:nvGraphicFramePr>
        <p:xfrm>
          <a:off x="1151959" y="1726533"/>
          <a:ext cx="6032867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4113">
                  <a:extLst>
                    <a:ext uri="{9D8B030D-6E8A-4147-A177-3AD203B41FA5}">
                      <a16:colId xmlns:a16="http://schemas.microsoft.com/office/drawing/2014/main" val="3176935363"/>
                    </a:ext>
                  </a:extLst>
                </a:gridCol>
                <a:gridCol w="2590112">
                  <a:extLst>
                    <a:ext uri="{9D8B030D-6E8A-4147-A177-3AD203B41FA5}">
                      <a16:colId xmlns:a16="http://schemas.microsoft.com/office/drawing/2014/main" val="3247720318"/>
                    </a:ext>
                  </a:extLst>
                </a:gridCol>
                <a:gridCol w="2038642">
                  <a:extLst>
                    <a:ext uri="{9D8B030D-6E8A-4147-A177-3AD203B41FA5}">
                      <a16:colId xmlns:a16="http://schemas.microsoft.com/office/drawing/2014/main" val="281448534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Nombre_parada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>
                          <a:effectLst/>
                        </a:rPr>
                        <a:t>Dirección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Total_usuarios_descensos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8483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San Blas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Gran Colombia y Tarqui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6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0562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Chimbacalle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Pedro Vicente Maldonado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53933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La Floresta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12 de Octubre y Madrid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880996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El Labrador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Galo Plaza y El Labrador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11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30136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Itchimbía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José Antepara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12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00321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El Quinche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Panamericana Norte y Gonzalo Pizarro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12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45446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La Mariscal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Amazonas y Veintimilla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14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367054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San Roque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Mariscal Sucre y Loja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14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36929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Bellavista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Eloy Alfaro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16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5366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Iñaquito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Amazonas y Atahualpa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16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4750735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AB780A6E-3337-46B9-4C27-E6EA83528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1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D65A1-9FDF-4AFB-84F3-2D78F014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3B232-920B-24ED-A4EA-2ACDAAD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4.2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53AF60-12E5-E5E9-D79E-0F4D752123FF}"/>
              </a:ext>
            </a:extLst>
          </p:cNvPr>
          <p:cNvSpPr txBox="1"/>
          <p:nvPr/>
        </p:nvSpPr>
        <p:spPr>
          <a:xfrm>
            <a:off x="849340" y="1171589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Paradas donde mas bajan.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C61DC65-0596-0396-EA2A-13A0E2832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42" y="1695327"/>
            <a:ext cx="7459116" cy="17528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781FB05-90B8-5B99-C466-981844F5D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85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29E1-6F44-F6DD-F7A7-09E52D5B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909C4-7899-4B44-DD1B-409916C5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4.2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299C0C-C1C6-010F-F53B-BDEC530E0651}"/>
              </a:ext>
            </a:extLst>
          </p:cNvPr>
          <p:cNvSpPr txBox="1"/>
          <p:nvPr/>
        </p:nvSpPr>
        <p:spPr>
          <a:xfrm>
            <a:off x="849340" y="1171589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Paradas donde mas bajan.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D18AC34-7726-39D9-240C-E26A3212E514}"/>
              </a:ext>
            </a:extLst>
          </p:cNvPr>
          <p:cNvGraphicFramePr>
            <a:graphicFrameLocks noGrp="1"/>
          </p:cNvGraphicFramePr>
          <p:nvPr/>
        </p:nvGraphicFramePr>
        <p:xfrm>
          <a:off x="1155987" y="1640191"/>
          <a:ext cx="6152338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1955">
                  <a:extLst>
                    <a:ext uri="{9D8B030D-6E8A-4147-A177-3AD203B41FA5}">
                      <a16:colId xmlns:a16="http://schemas.microsoft.com/office/drawing/2014/main" val="426252515"/>
                    </a:ext>
                  </a:extLst>
                </a:gridCol>
                <a:gridCol w="2541183">
                  <a:extLst>
                    <a:ext uri="{9D8B030D-6E8A-4147-A177-3AD203B41FA5}">
                      <a16:colId xmlns:a16="http://schemas.microsoft.com/office/drawing/2014/main" val="2278154499"/>
                    </a:ext>
                  </a:extLst>
                </a:gridCol>
                <a:gridCol w="1899200">
                  <a:extLst>
                    <a:ext uri="{9D8B030D-6E8A-4147-A177-3AD203B41FA5}">
                      <a16:colId xmlns:a16="http://schemas.microsoft.com/office/drawing/2014/main" val="41839988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Nombre_parada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>
                          <a:effectLst/>
                        </a:rPr>
                        <a:t>Dirección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Total_usuarios_descensos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4229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Cumbayá Centro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Francisco de Orellana y Juan Montalvo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48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624233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Cotocollao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10 de Agosto y Machala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38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0094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La Pradera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6 de Diciembre y Orellana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36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2291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El Condado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Occidental y Diego Vásquez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31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682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Solanda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Ajaví y Cardenal de la Torre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17409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Carcelén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Eloy Alfaro y Vaca de Castro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30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488513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Barrio Industrial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Galo Plaza y El Inca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778171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Las Casas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10 de Agosto y Mariana de Jesús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27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5379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Tumbaco Principal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Interoceánica y Eugenio Espejo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25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844131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Calderón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Av. Geovanny Calles y 9 de Agosto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25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4433935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94E33DD-59D5-3E7D-A4DD-80103D14B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2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4B9B7-5CDD-64A2-245E-3BF73476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E67E1-5B21-B1A8-6B1D-243E828A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5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8A9DAB-CC15-73F5-4A70-377DE9F2A131}"/>
              </a:ext>
            </a:extLst>
          </p:cNvPr>
          <p:cNvSpPr txBox="1"/>
          <p:nvPr/>
        </p:nvSpPr>
        <p:spPr>
          <a:xfrm>
            <a:off x="854242" y="1082600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Trayectos mas populares por ruta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45FFC24-027A-F6DD-B22A-14A87C9F7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33AC397-081B-9EA2-5A44-8A5EBB98A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36" y="1604757"/>
            <a:ext cx="6534629" cy="26320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6102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2D1DB-4EEE-C94A-ECDF-E897F8877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5DC8F-26DE-F5FB-BF15-0239B92D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Pregunta de análisis 5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687E91-9A79-7AC2-BEF3-D47B334CC519}"/>
              </a:ext>
            </a:extLst>
          </p:cNvPr>
          <p:cNvSpPr txBox="1"/>
          <p:nvPr/>
        </p:nvSpPr>
        <p:spPr>
          <a:xfrm>
            <a:off x="854242" y="1082600"/>
            <a:ext cx="633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Trayectos mas populares por ruta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6C73845-3C75-3B83-1D18-4C6455A35C5B}"/>
              </a:ext>
            </a:extLst>
          </p:cNvPr>
          <p:cNvGraphicFramePr>
            <a:graphicFrameLocks noGrp="1"/>
          </p:cNvGraphicFramePr>
          <p:nvPr/>
        </p:nvGraphicFramePr>
        <p:xfrm>
          <a:off x="1036374" y="1645662"/>
          <a:ext cx="67183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120665963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9705480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01225361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40209189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Nombre_ruta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Parada_origen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Parada_destino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b="1" u="none" strike="noStrike" dirty="0" err="1">
                          <a:effectLst/>
                        </a:rPr>
                        <a:t>Número_usuarios_viaje_od</a:t>
                      </a:r>
                      <a:endParaRPr lang="es-EC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1302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Ruta Noroeste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Parada Calderón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Parada Carcelén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24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62134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Suroeste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Parada Guamaní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Chillogallo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22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182099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Sur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Parada Terminal Sur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Parada Quitumbe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20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29045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Oeste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Parada Barrio Industrial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El Condado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19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5286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Sureste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Solanda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Parque Central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19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02169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Norte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Terminal Norte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La Carolina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18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80308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Norte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Centro Histórico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Terminal Norte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18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821195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Ruta Noreste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>
                          <a:effectLst/>
                        </a:rPr>
                        <a:t>Parada Las Casas</a:t>
                      </a:r>
                      <a:endParaRPr lang="es-EC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Parada Cumbayá Centro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C" sz="1100" u="none" strike="noStrike" dirty="0">
                          <a:effectLst/>
                        </a:rPr>
                        <a:t>18</a:t>
                      </a:r>
                      <a:endParaRPr lang="es-EC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357624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9E578AF8-8CF6-F65F-B34C-C236E96DD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64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D8AD5-9733-360E-CCC9-85F5819F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Conclusiones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FED437DE-CADC-E672-E1E6-20B61B09BF1D}"/>
              </a:ext>
            </a:extLst>
          </p:cNvPr>
          <p:cNvSpPr txBox="1">
            <a:spLocks/>
          </p:cNvSpPr>
          <p:nvPr/>
        </p:nvSpPr>
        <p:spPr>
          <a:xfrm>
            <a:off x="576966" y="1398229"/>
            <a:ext cx="6923863" cy="250878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 logro identificar horarios con mayor y menor afluencia por lo cual se propone la implementación de medidas que permitan mitigar dicha problemática.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 el horario de 17:00 – 20:00 hay demasiadas unidades dentro de las líneas de transporte, por lo que se sugiere disminuirlas.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 la segunda consulta podemos denotar que hay muy poca demanda de transporte por parte de los usuarios a nivel general de rutas en la franja horaria de 9:00 – 12:00, por lo que se recomienda eliminar unidades en este horario. 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CB36B2D6-5447-B13F-F327-1979C3650A4D}"/>
              </a:ext>
            </a:extLst>
          </p:cNvPr>
          <p:cNvSpPr txBox="1">
            <a:spLocks/>
          </p:cNvSpPr>
          <p:nvPr/>
        </p:nvSpPr>
        <p:spPr>
          <a:xfrm>
            <a:off x="796974" y="1236489"/>
            <a:ext cx="5096207" cy="195189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22299A6-03A9-6D1E-D7F8-113BCC55E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" y="4758916"/>
            <a:ext cx="3210373" cy="3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870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1187</Words>
  <Application>Microsoft Office PowerPoint</Application>
  <PresentationFormat>Presentación en pantalla (16:9)</PresentationFormat>
  <Paragraphs>371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Calibri</vt:lpstr>
      <vt:lpstr>Arial</vt:lpstr>
      <vt:lpstr>Montserrat</vt:lpstr>
      <vt:lpstr>Play</vt:lpstr>
      <vt:lpstr>Tema de Office</vt:lpstr>
      <vt:lpstr>Proyecto integrador  Optimización de redes de transporte urbano</vt:lpstr>
      <vt:lpstr>Objetivos del proyecto </vt:lpstr>
      <vt:lpstr>¿Qué funcionalidad tendrá el sistema?</vt:lpstr>
      <vt:lpstr>Entidades del sistema integrado de transporte urbano</vt:lpstr>
      <vt:lpstr>Diagrama de modelo de datos </vt:lpstr>
      <vt:lpstr>Pregunta de análisis 1</vt:lpstr>
      <vt:lpstr>Pregunta de análisis 1</vt:lpstr>
      <vt:lpstr>Pregunta de análisis 2</vt:lpstr>
      <vt:lpstr>Pregunta de análisis 2</vt:lpstr>
      <vt:lpstr>Pregunta de análisis 3.1</vt:lpstr>
      <vt:lpstr>Pregunta de análisis 3.1</vt:lpstr>
      <vt:lpstr>Pregunta de análisis 3.2</vt:lpstr>
      <vt:lpstr>Pregunta de análisis 3.2</vt:lpstr>
      <vt:lpstr>Pregunta de análisis 4.1</vt:lpstr>
      <vt:lpstr>Pregunta de análisis 4.1</vt:lpstr>
      <vt:lpstr>Pregunta de análisis 4.2</vt:lpstr>
      <vt:lpstr>Pregunta de análisis 4.2</vt:lpstr>
      <vt:lpstr>Pregunta de análisis 5</vt:lpstr>
      <vt:lpstr>Pregunta de análisis 5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Javier Gutiérrez</dc:creator>
  <cp:lastModifiedBy>Felix Veliz</cp:lastModifiedBy>
  <cp:revision>15</cp:revision>
  <dcterms:modified xsi:type="dcterms:W3CDTF">2025-09-20T04:25:51Z</dcterms:modified>
</cp:coreProperties>
</file>